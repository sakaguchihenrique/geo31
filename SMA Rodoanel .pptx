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60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(0:00-0:45). O estudo de caso que vamos apresentar hoje e o uso do SMA - Stone Matrix Asphalt - no Rodoanel Mario Covas. Para entender por que esse revestimento foi escolhido, preciso primeiro contextualizar como uma rodovia e construida e o que rege as decisoes tecnicas de pavimentacao.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(0:45-1:30) Toda rodovia passa por fases bem definidas: planejamento, projeto, implantacao e operacao. E na implantacao que a engenharia de campo entra de fato, e ela se organiza em cinco grupos de servicos: preliminares, terraplenagem e geotecnia, pavimentacao, drenagem e sinalizacao. Hoje vou focar em pavimentacao, que e onde o SMA se insere - mas e importante entender que ela so comeca depois que toda a terraplenagem esta concluida e aprovada.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(1:30-3:00) O pavimento nao e so o asfalto que vemos - e um sistema estrutural de camadas. Da base para cima temos o subleito, que e o proprio terreno preparado e serve de fundacao. Quando ele tem capacidade de suporte insuficiente, aplica-se o reforco do subleito - uma camada de material granular grosseiro de cerca de 20 cm. Acima vem a sub-base, complementar a base. Depois a camada de base, que e a principal estrutural - e ela que resiste e distribui os esforcos dos veiculos para as camadas abaixo. E no topo, o revestimento asfaltico, em contato direto com os pneus e com o clima. A base pode ser granular - brita graduada, solo-brita, macadame - ou tratada com cimento ou ligante asfaltico, dependendo do volume de trafego e dos materiais disponiveis. O comportamento de todo o sistema depende da espessura de cada camada, da rigidez dos materiais e da interacao entre 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(3:00-4:00) Todo material usado no pavimento e rigorosamente ensaiado. O principal para os agregados e o ensaio de abrasao Los Angeles: amostras de agregado seco sao colocadas num tambor rotativo com esferas de aco, e mede-se a porcentagem que se degrada. Quanto menor o resultado, mais resistente o material. Isso e fundamental porque agregados frageis se fragmentam sob o trafego e destroem a estrutura do pavimento. Alem desse, ensaios de CBR, compactacao e granulometria garantem que cada camada esta dentro das especificacoes do DNIT antes de avancar para a proxima.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(4:00-5:30, parte 1) E aqui que o SMA entra. O Rodoanel tem um dos maiores volumes de trafego pesado do Brasil - caminhoes, carretas, onibus - gerando esforcos verticais elevados e repetidos. Um revestimento convencional nao suportaria essa demanda com durabilidade. O SMA tem uma composicao diferente: uma proporcao muito maior de agregados graudos que formam um esqueleto petreo altamente resistente, com os vazios preenchidos por mastique - asfalto, filer e fibras. Essa estrutura o torna muito mais resistente a deformacao permanente, as chamadas trilhas de roda, que sao o principal problema em rodovias de trafego pesado. Por isso, os agregados do SMA precisam ter abrasao Los Angeles baixa - graos fracos destroem o esqueleto petreo e anulam todas as vantagens do material. A granulometria tambem e controlada com curva descontinua especifica, bem diferente dos materiais convencionais de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(5:30-6:30) A escolha do SMA responde diretamente as exigencias do projeto. Primeiro, resistencia a deformacao - essencial com o trafego pesado intenso. Segundo, maior durabilidade, reduzindo intervencoes de manutencao numa rodovia onde qualquer obra causa impacto enorme no transito metropolitano. Terceiro, melhor aderencia pneu-pavimento em pista molhada, aumentando a seguranca. E por fim, menor ruido de rolamento - relevante porque o Rodoanel atravessa regioes urbanas densamente povoadas.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(6:30-7:00) Em resumo, o SMA do Rodoanel e a materializacao de decisoes tecnicas fundamentadas: trafego pesado, exigencia de durabilidade, seguranca e contexto urbano. Toda a teoria de pavimentacao que apresentei converge para justificar essa escolha. Agora [nome do colega] vai apresentar [tema do colega].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60720"/>
            <a:ext cx="12188952" cy="256032"/>
          </a:xfrm>
          <a:prstGeom prst="rect">
            <a:avLst/>
          </a:prstGeom>
          <a:solidFill>
            <a:srgbClr val="2C3E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6016752"/>
            <a:ext cx="12188952" cy="256032"/>
          </a:xfrm>
          <a:prstGeom prst="rect">
            <a:avLst/>
          </a:prstGeom>
          <a:solidFill>
            <a:srgbClr val="3A4D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6272784"/>
            <a:ext cx="12188952" cy="256032"/>
          </a:xfrm>
          <a:prstGeom prst="rect">
            <a:avLst/>
          </a:prstGeom>
          <a:solidFill>
            <a:srgbClr val="C865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6528816"/>
            <a:ext cx="12188952" cy="256032"/>
          </a:xfrm>
          <a:prstGeom prst="rect">
            <a:avLst/>
          </a:prstGeom>
          <a:solidFill>
            <a:srgbClr val="E8A1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GEO-31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 do Rodoanel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 err="1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</a:t>
            </a:r>
            <a:r>
              <a:rPr lang="en-US" sz="1900" i="1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900" i="1" dirty="0" err="1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1900" i="1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i="1" dirty="0" err="1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900" i="1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i="1" dirty="0" err="1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estradas</a:t>
            </a:r>
            <a:r>
              <a:rPr lang="en-US" sz="1900" i="1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pic>
        <p:nvPicPr>
          <p:cNvPr id="9" name="Image 0" descr="icon_roa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9921240" y="146304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</a:t>
            </a:r>
            <a:r>
              <a:rPr lang="en-US" sz="1200" dirty="0" err="1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Aeronáutica</a:t>
            </a:r>
            <a:r>
              <a:rPr lang="en-US" sz="12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GEO-31  |  Profs. Schiavon e Paulo </a:t>
            </a:r>
            <a:r>
              <a:rPr lang="en-US" sz="1200" dirty="0" err="1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Hemsi</a:t>
            </a:r>
            <a:endParaRPr lang="en-US" sz="1200" dirty="0"/>
          </a:p>
        </p:txBody>
      </p:sp>
      <p:pic>
        <p:nvPicPr>
          <p:cNvPr id="11" name="Imagem 10" descr="Ficheiro:ITA logo.png – Wikipédia, a enciclopédia livre">
            <a:extLst>
              <a:ext uri="{FF2B5EF4-FFF2-40B4-BE49-F238E27FC236}">
                <a16:creationId xmlns:a16="http://schemas.microsoft.com/office/drawing/2014/main" id="{05D04C6B-70AC-BF38-C46E-E3BDBB1A5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84" y="156814"/>
            <a:ext cx="2867223" cy="108677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F6B09841-6E12-878A-901B-4287A9354E6D}"/>
              </a:ext>
            </a:extLst>
          </p:cNvPr>
          <p:cNvSpPr txBox="1"/>
          <p:nvPr/>
        </p:nvSpPr>
        <p:spPr>
          <a:xfrm>
            <a:off x="777240" y="5419713"/>
            <a:ext cx="7886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</a:t>
            </a:r>
            <a:r>
              <a:rPr lang="en-US" sz="1200" dirty="0" err="1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Bisca</a:t>
            </a:r>
            <a:r>
              <a:rPr lang="en-US" sz="12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Henrique Sakaguchi</a:t>
            </a:r>
            <a:endParaRPr lang="en-US" sz="1200" dirty="0"/>
          </a:p>
        </p:txBody>
      </p:sp>
      <p:pic>
        <p:nvPicPr>
          <p:cNvPr id="16" name="Imagem 15" descr="Rodoanel, a maior obra viária do Brasil — Departamento Nacional de  Infraestrutura de Transportes">
            <a:extLst>
              <a:ext uri="{FF2B5EF4-FFF2-40B4-BE49-F238E27FC236}">
                <a16:creationId xmlns:a16="http://schemas.microsoft.com/office/drawing/2014/main" id="{22701634-4DD4-ADE0-CE46-B03AD17F6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9778" y="1577340"/>
            <a:ext cx="3956982" cy="28749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</a:t>
            </a:r>
            <a:r>
              <a:rPr lang="en-US" sz="2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2800" b="1" dirty="0" err="1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criação</a:t>
            </a:r>
            <a:r>
              <a:rPr lang="en-US" sz="2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2800" b="1" dirty="0" err="1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rodovias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98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16352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281635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98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81635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849624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C8651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3849624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384962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882896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4882896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98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882896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e Manutenção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de Implantação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224028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537960" y="22402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Preliminares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2898648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537960" y="289864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Terraplenagem e Geotecnia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263640" y="3557016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2230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537960" y="355701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Pavimentação</a:t>
            </a:r>
            <a:endParaRPr lang="en-US" sz="1450" dirty="0"/>
          </a:p>
        </p:txBody>
      </p:sp>
      <p:pic>
        <p:nvPicPr>
          <p:cNvPr id="23" name="Image 0" descr="icon_layers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32" y="3666744"/>
            <a:ext cx="347472" cy="34747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263640" y="4215384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537960" y="42153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Drenagem e Proteção Vegetal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263640" y="4873752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6537960" y="487375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Sinalização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3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PAVIMENTO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sistema de camadas, não apenas asfalto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11196" y="1691640"/>
            <a:ext cx="6766560" cy="786384"/>
          </a:xfrm>
          <a:prstGeom prst="rect">
            <a:avLst/>
          </a:prstGeom>
          <a:solidFill>
            <a:srgbClr val="C8651B"/>
          </a:solidFill>
          <a:ln w="19050">
            <a:solidFill>
              <a:srgbClr val="2230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985516" y="17465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Revestimento Asfáltico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85516" y="20756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rolamento — contato direto com os pneus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62556" y="2532888"/>
            <a:ext cx="7863840" cy="786384"/>
          </a:xfrm>
          <a:prstGeom prst="rect">
            <a:avLst/>
          </a:prstGeom>
          <a:solidFill>
            <a:srgbClr val="3A4D5E"/>
          </a:solidFill>
          <a:ln w="19050">
            <a:solidFill>
              <a:srgbClr val="2230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436876" y="2587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36876" y="29169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 e distribui os esforços verticais dos veículos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05356" y="3374136"/>
            <a:ext cx="8778240" cy="786384"/>
          </a:xfrm>
          <a:prstGeom prst="rect">
            <a:avLst/>
          </a:prstGeom>
          <a:solidFill>
            <a:srgbClr val="33485A"/>
          </a:solidFill>
          <a:ln w="19050">
            <a:solidFill>
              <a:srgbClr val="2230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979676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79676" y="37581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 à base, mesma função, sobre o subleito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48156" y="4215384"/>
            <a:ext cx="9692640" cy="786384"/>
          </a:xfrm>
          <a:prstGeom prst="rect">
            <a:avLst/>
          </a:prstGeom>
          <a:solidFill>
            <a:srgbClr val="2C3E4D"/>
          </a:solidFill>
          <a:ln w="19050">
            <a:solidFill>
              <a:srgbClr val="2230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522476" y="4270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do Subleito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22476" y="45994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≈20 cm de material granular grosseiro, se necessário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0956" y="5056632"/>
            <a:ext cx="10607040" cy="786384"/>
          </a:xfrm>
          <a:prstGeom prst="rect">
            <a:avLst/>
          </a:prstGeom>
          <a:solidFill>
            <a:srgbClr val="26333F"/>
          </a:solidFill>
          <a:ln w="19050">
            <a:solidFill>
              <a:srgbClr val="2230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065276" y="51114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Subleito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5276" y="54406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 natural preparado — fundação do pavimento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Ensaio de Abrasão Los Angeles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resistência ao desgaste e ao impacto de agregados rochosos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566928" cy="566928"/>
          </a:xfrm>
          <a:prstGeom prst="ellipse">
            <a:avLst/>
          </a:prstGeom>
          <a:solidFill>
            <a:srgbClr val="C865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89888" y="1965960"/>
            <a:ext cx="5376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600200" y="2039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de agregado seco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3865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rochoso selecionado e preparado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566928" cy="566928"/>
          </a:xfrm>
          <a:prstGeom prst="ellipse">
            <a:avLst/>
          </a:prstGeom>
          <a:solidFill>
            <a:srgbClr val="C865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89888" y="2935224"/>
            <a:ext cx="5376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600200" y="30083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Tambor rotativo + esferas de aço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355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controlada simula o desgaste por tráfego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66928" cy="566928"/>
          </a:xfrm>
          <a:prstGeom prst="ellipse">
            <a:avLst/>
          </a:prstGeom>
          <a:solidFill>
            <a:srgbClr val="C865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89888" y="3904488"/>
            <a:ext cx="5376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60020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Peneiramento (1,7 mm)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325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do material degradado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992624"/>
            <a:ext cx="566928" cy="566928"/>
          </a:xfrm>
          <a:prstGeom prst="ellipse">
            <a:avLst/>
          </a:prstGeom>
          <a:solidFill>
            <a:srgbClr val="C865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4992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89888" y="4873752"/>
            <a:ext cx="5376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600200" y="4946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em 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00200" y="52943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menor o índice, mais resistente o agregado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78040" y="1965960"/>
            <a:ext cx="4297680" cy="4069080"/>
          </a:xfrm>
          <a:prstGeom prst="roundRect">
            <a:avLst>
              <a:gd name="adj" fmla="val 2247"/>
            </a:avLst>
          </a:prstGeom>
          <a:solidFill>
            <a:srgbClr val="2230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6" name="Image 0" descr="icon_flask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286000"/>
            <a:ext cx="502920" cy="5029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49808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 para o SMA?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7498080" y="35204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SMA, o esqueleto pétreo formado pelos agregados graúdos é responsável por toda a resistência estrutural do revestimento. Agregados com abrasão alta se fragmentam sob o tráfego pesado, destroem esse esqueleto e anulam as vantagens do material.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498080" y="5349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E8A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ensaios complementares: CBR · Compactação · Granulometria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3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REVESTIMENTO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 — Stone Matrix Asphalt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A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Concreto Asfáltico de Matriz Pétrea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2C3E4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icon_stone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pétreo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7004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proporção de agregados graúdos, formando estrutura de contato grão-a-grão altamente resistente à deformação.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88620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2C3E4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icon_flask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69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4069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Mástique rico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14400" y="463600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Vazios preenchidos por mistura de asfalto, fíler e fibras — garante coesão e impermeabilidade.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63640" y="1920240"/>
            <a:ext cx="5285232" cy="3749040"/>
          </a:xfrm>
          <a:prstGeom prst="roundRect">
            <a:avLst>
              <a:gd name="adj" fmla="val 2439"/>
            </a:avLst>
          </a:prstGeom>
          <a:solidFill>
            <a:srgbClr val="C8651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6629400" y="219456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essa estrutura importa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629400" y="2788920"/>
            <a:ext cx="4553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resistência à deformação permanente — combate diretamente as trilhas de roda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Granulometria descontínua, bem diferente dos materiais convencionais de base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agregados de altíssima qualidade — baixa abrasão Los Angeles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SMA foi a escolha para o Rodoanel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42032" cy="3520440"/>
          </a:xfrm>
          <a:prstGeom prst="roundRect">
            <a:avLst>
              <a:gd name="adj" fmla="val 3597"/>
            </a:avLst>
          </a:prstGeom>
          <a:solidFill>
            <a:srgbClr val="2230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76756" y="2194560"/>
            <a:ext cx="868680" cy="868680"/>
          </a:xfrm>
          <a:prstGeom prst="ellipse">
            <a:avLst/>
          </a:prstGeom>
          <a:solidFill>
            <a:srgbClr val="C8651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icon_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23957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2461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pesado intenso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3931920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Resistência à deformação permanente sob carga repetida de caminhões e carretas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542032" cy="3520440"/>
          </a:xfrm>
          <a:prstGeom prst="roundRect">
            <a:avLst>
              <a:gd name="adj" fmla="val 3597"/>
            </a:avLst>
          </a:prstGeom>
          <a:solidFill>
            <a:srgbClr val="2230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219956" y="2194560"/>
            <a:ext cx="868680" cy="868680"/>
          </a:xfrm>
          <a:prstGeom prst="ellipse">
            <a:avLst/>
          </a:prstGeom>
          <a:solidFill>
            <a:srgbClr val="C8651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icon_we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239572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32461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Durabilidade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84448" y="3931920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frequência de manutenção — crítico numa via de altíssimo impacto metropolitano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828800"/>
            <a:ext cx="2542032" cy="3520440"/>
          </a:xfrm>
          <a:prstGeom prst="roundRect">
            <a:avLst>
              <a:gd name="adj" fmla="val 3597"/>
            </a:avLst>
          </a:prstGeom>
          <a:solidFill>
            <a:srgbClr val="2230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6963156" y="2194560"/>
            <a:ext cx="868680" cy="868680"/>
          </a:xfrm>
          <a:prstGeom prst="ellipse">
            <a:avLst/>
          </a:prstGeom>
          <a:solidFill>
            <a:srgbClr val="C8651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icon_wa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239572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32461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em pista molhada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27648" y="3931920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Textura superficial melhora a aderência pneu-pavimento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69680" y="1828800"/>
            <a:ext cx="2542032" cy="3520440"/>
          </a:xfrm>
          <a:prstGeom prst="roundRect">
            <a:avLst>
              <a:gd name="adj" fmla="val 3597"/>
            </a:avLst>
          </a:prstGeom>
          <a:solidFill>
            <a:srgbClr val="2230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9706356" y="2194560"/>
            <a:ext cx="868680" cy="868680"/>
          </a:xfrm>
          <a:prstGeom prst="ellipse">
            <a:avLst/>
          </a:prstGeom>
          <a:solidFill>
            <a:srgbClr val="C8651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icon_volu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2096" y="239572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34272" y="32461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Conforto urbano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70848" y="3931920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pétreo com vazios adequados reduz o ruído de rolamento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3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teoria à decisão técnica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2C3E4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" y="2377440"/>
            <a:ext cx="2185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camadas do pavimento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154680" y="23774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29000" y="23774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2C3E4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593592" y="2377440"/>
            <a:ext cx="2185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qualidade dos agregados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0" y="23774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2C3E4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382512" y="2377440"/>
            <a:ext cx="2185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Exigências de tráfego do Rodoanel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732520" y="23774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006840" y="23774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C8651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171432" y="2377440"/>
            <a:ext cx="2185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técnica do SMA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429768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SMA do Rodoanel é a materialização de decisões técnicas fundamentadas: tráfego pesado, exigência de durabilidade, segurança e contexto urbano convergindo numa única escolha de engenharia.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 Teórica — SMA do Rodoanel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1187</Words>
  <Application>Microsoft Office PowerPoint</Application>
  <PresentationFormat>Widescreen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 do Rodoanel - Contextualizacao Teorica</dc:title>
  <dc:subject>PptxGenJS Presentation</dc:subject>
  <dc:creator>Estudo de Caso GEO-31</dc:creator>
  <cp:lastModifiedBy>Maria Raquel Ramalho</cp:lastModifiedBy>
  <cp:revision>2</cp:revision>
  <dcterms:created xsi:type="dcterms:W3CDTF">2026-06-21T22:42:40Z</dcterms:created>
  <dcterms:modified xsi:type="dcterms:W3CDTF">2026-06-21T22:59:01Z</dcterms:modified>
</cp:coreProperties>
</file>